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3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70080" y="109728"/>
            <a:ext cx="118872" cy="6748272"/>
          </a:xfrm>
          <a:prstGeom prst="rect">
            <a:avLst/>
          </a:prstGeom>
          <a:solidFill>
            <a:srgbClr val="36B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446520"/>
            <a:ext cx="11247120" cy="256032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r">
              <a:defRPr sz="1000" b="0">
                <a:solidFill>
                  <a:srgbClr val="B8C3D0"/>
                </a:solidFill>
                <a:latin typeface="Vazirmatn"/>
              </a:defRPr>
            </a:pPr>
            <a:r>
              <a:t>جغرافیای ایران • دهم تجربی ۱                                      امیرمحمد چیره  | 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789920" cy="822960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r">
              <a:defRPr sz="3600" b="1">
                <a:solidFill>
                  <a:srgbClr val="F5F7FA"/>
                </a:solidFill>
                <a:latin typeface="Vazirmatn"/>
              </a:defRPr>
            </a:pPr>
            <a:r>
              <a:t>جغرافیا؛ علمی برای زندگی بهتر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89920" cy="502920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r">
              <a:defRPr sz="2100" b="1">
                <a:solidFill>
                  <a:srgbClr val="36B980"/>
                </a:solidFill>
                <a:latin typeface="Vazirmatn"/>
              </a:defRPr>
            </a:pPr>
            <a:r>
              <a:t>پروژه آموزشی جغرافیای ایران | پایه دهم تجربی</a:t>
            </a:r>
          </a:p>
        </p:txBody>
      </p:sp>
      <p:sp>
        <p:nvSpPr>
          <p:cNvPr id="7" name="Oval 6"/>
          <p:cNvSpPr/>
          <p:nvPr/>
        </p:nvSpPr>
        <p:spPr>
          <a:xfrm>
            <a:off x="7863840" y="2331720"/>
            <a:ext cx="2286000" cy="2286000"/>
          </a:xfrm>
          <a:prstGeom prst="ellipse">
            <a:avLst/>
          </a:prstGeom>
          <a:solidFill>
            <a:srgbClr val="234453"/>
          </a:solidFill>
          <a:ln w="38100">
            <a:solidFill>
              <a:srgbClr val="36B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rc 7"/>
          <p:cNvSpPr/>
          <p:nvPr/>
        </p:nvSpPr>
        <p:spPr>
          <a:xfrm>
            <a:off x="8412480" y="2423160"/>
            <a:ext cx="822960" cy="2103120"/>
          </a:xfrm>
          <a:prstGeom prst="arc">
            <a:avLst/>
          </a:prstGeom>
          <a:noFill/>
          <a:ln w="22860">
            <a:solidFill>
              <a:srgbClr val="E03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rc 8"/>
          <p:cNvSpPr/>
          <p:nvPr/>
        </p:nvSpPr>
        <p:spPr>
          <a:xfrm>
            <a:off x="7973568" y="3017520"/>
            <a:ext cx="2057400" cy="457200"/>
          </a:xfrm>
          <a:prstGeom prst="arc">
            <a:avLst/>
          </a:prstGeom>
          <a:noFill/>
          <a:ln w="22860">
            <a:solidFill>
              <a:srgbClr val="E03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8046720" y="3520440"/>
            <a:ext cx="1920240" cy="457200"/>
          </a:xfrm>
          <a:prstGeom prst="arc">
            <a:avLst/>
          </a:prstGeom>
          <a:noFill/>
          <a:ln w="22860">
            <a:solidFill>
              <a:srgbClr val="E03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43200"/>
            <a:ext cx="6217920" cy="1920240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r">
              <a:defRPr sz="2200" b="0">
                <a:solidFill>
                  <a:srgbClr val="F5F7FA"/>
                </a:solidFill>
                <a:latin typeface="Vazirmatn"/>
              </a:defRPr>
            </a:pPr>
            <a:r>
              <a:t>تهیه‌کننده: امیرمحمد چیره</a:t>
            </a:r>
          </a:p>
          <a:p>
            <a:pPr algn="r">
              <a:defRPr sz="2200" b="0">
                <a:solidFill>
                  <a:srgbClr val="F5F7FA"/>
                </a:solidFill>
                <a:latin typeface="Vazirmatn"/>
              </a:defRPr>
            </a:pPr>
            <a:r>
              <a:t>کلاس: دهم تجربی ۱</a:t>
            </a:r>
          </a:p>
          <a:p>
            <a:pPr algn="r">
              <a:defRPr sz="2200" b="0">
                <a:solidFill>
                  <a:srgbClr val="F5F7FA"/>
                </a:solidFill>
                <a:latin typeface="Vazirmatn"/>
              </a:defRPr>
            </a:pPr>
            <a:r>
              <a:t>دبیر: رضا نجفی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166360"/>
            <a:ext cx="10515600" cy="548640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r">
              <a:defRPr sz="2000" b="1">
                <a:solidFill>
                  <a:srgbClr val="E03949"/>
                </a:solidFill>
                <a:latin typeface="Vazirmatn"/>
              </a:defRPr>
            </a:pPr>
            <a:r>
              <a:t>شناخت زمین، شناخت زندگی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3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70080" y="109728"/>
            <a:ext cx="118872" cy="6748272"/>
          </a:xfrm>
          <a:prstGeom prst="rect">
            <a:avLst/>
          </a:prstGeom>
          <a:solidFill>
            <a:srgbClr val="36B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446520"/>
            <a:ext cx="11247120" cy="256032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r">
              <a:defRPr sz="1000" b="0">
                <a:solidFill>
                  <a:srgbClr val="B8C3D0"/>
                </a:solidFill>
                <a:latin typeface="Vazirmatn"/>
              </a:defRPr>
            </a:pPr>
            <a:r>
              <a:t>جغرافیای ایران • دهم تجربی ۱                                      امیرمحمد چیره  | 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r">
              <a:defRPr sz="3400" b="1">
                <a:solidFill>
                  <a:srgbClr val="F5F7FA"/>
                </a:solidFill>
                <a:latin typeface="Vazirmatn"/>
              </a:defRPr>
            </a:pPr>
            <a:r>
              <a:t>فهرست مطالب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4937760" cy="868680"/>
          </a:xfrm>
          <a:prstGeom prst="roundRect">
            <a:avLst/>
          </a:prstGeom>
          <a:solidFill>
            <a:srgbClr val="1C222D"/>
          </a:solidFill>
          <a:ln>
            <a:solidFill>
              <a:srgbClr val="E03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90472"/>
            <a:ext cx="4663440" cy="685800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r">
              <a:defRPr sz="1800" b="1">
                <a:solidFill>
                  <a:srgbClr val="F5F7FA"/>
                </a:solidFill>
                <a:latin typeface="Vazirmatn"/>
              </a:defRPr>
            </a:pPr>
            <a:r>
              <a:t>01  |  جغرافیا چیست؟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4937760" cy="868680"/>
          </a:xfrm>
          <a:prstGeom prst="roundRect">
            <a:avLst/>
          </a:prstGeom>
          <a:solidFill>
            <a:srgbClr val="1C222D"/>
          </a:solidFill>
          <a:ln>
            <a:solidFill>
              <a:srgbClr val="36B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90472"/>
            <a:ext cx="4663440" cy="685800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r">
              <a:defRPr sz="1800" b="1">
                <a:solidFill>
                  <a:srgbClr val="F5F7FA"/>
                </a:solidFill>
                <a:latin typeface="Vazirmatn"/>
              </a:defRPr>
            </a:pPr>
            <a:r>
              <a:t>02  |  واژه‌شناسی و تاریخچه کوتاه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743200"/>
            <a:ext cx="4937760" cy="868680"/>
          </a:xfrm>
          <a:prstGeom prst="roundRect">
            <a:avLst/>
          </a:prstGeom>
          <a:solidFill>
            <a:srgbClr val="1C222D"/>
          </a:solidFill>
          <a:ln>
            <a:solidFill>
              <a:srgbClr val="E03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816352"/>
            <a:ext cx="4663440" cy="685800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r">
              <a:defRPr sz="1800" b="1">
                <a:solidFill>
                  <a:srgbClr val="F5F7FA"/>
                </a:solidFill>
                <a:latin typeface="Vazirmatn"/>
              </a:defRPr>
            </a:pPr>
            <a:r>
              <a:t>03  |  ارتباط انسان و محیط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743200"/>
            <a:ext cx="4937760" cy="868680"/>
          </a:xfrm>
          <a:prstGeom prst="roundRect">
            <a:avLst/>
          </a:prstGeom>
          <a:solidFill>
            <a:srgbClr val="1C222D"/>
          </a:solidFill>
          <a:ln>
            <a:solidFill>
              <a:srgbClr val="36B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816352"/>
            <a:ext cx="4663440" cy="685800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r">
              <a:defRPr sz="1800" b="1">
                <a:solidFill>
                  <a:srgbClr val="F5F7FA"/>
                </a:solidFill>
                <a:latin typeface="Vazirmatn"/>
              </a:defRPr>
            </a:pPr>
            <a:r>
              <a:t>04  |  مکان و روابط متقابل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69080"/>
            <a:ext cx="4937760" cy="868680"/>
          </a:xfrm>
          <a:prstGeom prst="roundRect">
            <a:avLst/>
          </a:prstGeom>
          <a:solidFill>
            <a:srgbClr val="1C222D"/>
          </a:solidFill>
          <a:ln>
            <a:solidFill>
              <a:srgbClr val="E03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142232"/>
            <a:ext cx="4663440" cy="685800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r">
              <a:defRPr sz="1800" b="1">
                <a:solidFill>
                  <a:srgbClr val="F5F7FA"/>
                </a:solidFill>
                <a:latin typeface="Vazirmatn"/>
              </a:defRPr>
            </a:pPr>
            <a:r>
              <a:t>05  |  دید ترکیبی در جغرافیا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4069080"/>
            <a:ext cx="4937760" cy="868680"/>
          </a:xfrm>
          <a:prstGeom prst="roundRect">
            <a:avLst/>
          </a:prstGeom>
          <a:solidFill>
            <a:srgbClr val="1C222D"/>
          </a:solidFill>
          <a:ln>
            <a:solidFill>
              <a:srgbClr val="36B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142232"/>
            <a:ext cx="4663440" cy="685800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r">
              <a:defRPr sz="1800" b="1">
                <a:solidFill>
                  <a:srgbClr val="F5F7FA"/>
                </a:solidFill>
                <a:latin typeface="Vazirmatn"/>
              </a:defRPr>
            </a:pPr>
            <a:r>
              <a:t>06  |  کاربرد جغرافیا در زندگی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3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70080" y="109728"/>
            <a:ext cx="118872" cy="6748272"/>
          </a:xfrm>
          <a:prstGeom prst="rect">
            <a:avLst/>
          </a:prstGeom>
          <a:solidFill>
            <a:srgbClr val="36B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446520"/>
            <a:ext cx="11247120" cy="256032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r">
              <a:defRPr sz="1000" b="0">
                <a:solidFill>
                  <a:srgbClr val="B8C3D0"/>
                </a:solidFill>
                <a:latin typeface="Vazirmatn"/>
              </a:defRPr>
            </a:pPr>
            <a:r>
              <a:t>جغرافیای ایران • دهم تجربی ۱                                      امیرمحمد چیره  | 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"/>
            <a:ext cx="10789920" cy="731520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r">
              <a:defRPr sz="3400" b="1">
                <a:solidFill>
                  <a:srgbClr val="F5F7FA"/>
                </a:solidFill>
                <a:latin typeface="Vazirmatn"/>
              </a:defRPr>
            </a:pPr>
            <a:r>
              <a:t>جغرافیا چیست؟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6629400" cy="4526280"/>
          </a:xfrm>
          <a:prstGeom prst="roundRect">
            <a:avLst/>
          </a:prstGeom>
          <a:solidFill>
            <a:srgbClr val="F9FAFC"/>
          </a:solidFill>
          <a:ln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6126480" cy="3977639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r">
              <a:defRPr sz="2200" b="0">
                <a:solidFill>
                  <a:srgbClr val="1F2733"/>
                </a:solidFill>
                <a:latin typeface="Vazirmatn"/>
              </a:defRPr>
            </a:pPr>
            <a:r>
              <a:t>•  جغرافیا، روابط متقابل انسان و محیط را بررسی می‌کند.</a:t>
            </a:r>
          </a:p>
          <a:p>
            <a:pPr algn="r">
              <a:defRPr sz="2200" b="0">
                <a:solidFill>
                  <a:srgbClr val="1F2733"/>
                </a:solidFill>
                <a:latin typeface="Vazirmatn"/>
              </a:defRPr>
            </a:pPr>
            <a:r>
              <a:t>•  این علم ویژگی‌های طبیعی و انسانی مکان‌ها را می‌شناسد.</a:t>
            </a:r>
          </a:p>
          <a:p>
            <a:pPr algn="r">
              <a:defRPr sz="2200" b="0">
                <a:solidFill>
                  <a:srgbClr val="1F2733"/>
                </a:solidFill>
                <a:latin typeface="Vazirmatn"/>
              </a:defRPr>
            </a:pPr>
            <a:r>
              <a:t>•  هدف مهم آن، کمک به تصمیم‌گیری بهتر و زندگی بهتر است.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325880"/>
            <a:ext cx="3749039" cy="4526280"/>
          </a:xfrm>
          <a:prstGeom prst="roundRect">
            <a:avLst/>
          </a:prstGeom>
          <a:solidFill>
            <a:srgbClr val="1C222D"/>
          </a:solidFill>
          <a:ln>
            <a:solidFill>
              <a:srgbClr val="36B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549640" y="2423160"/>
            <a:ext cx="1005840" cy="640080"/>
          </a:xfrm>
          <a:prstGeom prst="line">
            <a:avLst/>
          </a:prstGeom>
          <a:ln w="25400">
            <a:solidFill>
              <a:srgbClr val="E039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8549640" y="3291840"/>
            <a:ext cx="1005840" cy="822960"/>
          </a:xfrm>
          <a:prstGeom prst="line">
            <a:avLst/>
          </a:prstGeom>
          <a:ln w="25400">
            <a:solidFill>
              <a:srgbClr val="E039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321040" y="2651760"/>
            <a:ext cx="0" cy="1325879"/>
          </a:xfrm>
          <a:prstGeom prst="line">
            <a:avLst/>
          </a:prstGeom>
          <a:ln w="25400">
            <a:solidFill>
              <a:srgbClr val="E039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8092440" y="2057400"/>
            <a:ext cx="914400" cy="914400"/>
          </a:xfrm>
          <a:prstGeom prst="ellipse">
            <a:avLst/>
          </a:prstGeom>
          <a:solidFill>
            <a:srgbClr val="E03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19288" y="2221992"/>
            <a:ext cx="1051560" cy="502920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ctr">
              <a:defRPr sz="1200" b="1">
                <a:solidFill>
                  <a:srgbClr val="F5F7FA"/>
                </a:solidFill>
                <a:latin typeface="Vazirmatn"/>
              </a:defRPr>
            </a:pPr>
            <a:r>
              <a:t>انسان</a:t>
            </a:r>
          </a:p>
        </p:txBody>
      </p:sp>
      <p:sp>
        <p:nvSpPr>
          <p:cNvPr id="14" name="Oval 13"/>
          <p:cNvSpPr/>
          <p:nvPr/>
        </p:nvSpPr>
        <p:spPr>
          <a:xfrm>
            <a:off x="9464040" y="2834640"/>
            <a:ext cx="914400" cy="914400"/>
          </a:xfrm>
          <a:prstGeom prst="ellipse">
            <a:avLst/>
          </a:prstGeom>
          <a:solidFill>
            <a:srgbClr val="36B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90888" y="2999232"/>
            <a:ext cx="1051560" cy="502920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ctr">
              <a:defRPr sz="1200" b="1">
                <a:solidFill>
                  <a:srgbClr val="F5F7FA"/>
                </a:solidFill>
                <a:latin typeface="Vazirmatn"/>
              </a:defRPr>
            </a:pPr>
            <a:r>
              <a:t>محیط</a:t>
            </a:r>
          </a:p>
        </p:txBody>
      </p:sp>
      <p:sp>
        <p:nvSpPr>
          <p:cNvPr id="16" name="Oval 15"/>
          <p:cNvSpPr/>
          <p:nvPr/>
        </p:nvSpPr>
        <p:spPr>
          <a:xfrm>
            <a:off x="8138160" y="3977639"/>
            <a:ext cx="914400" cy="914400"/>
          </a:xfrm>
          <a:prstGeom prst="ellipse">
            <a:avLst/>
          </a:prstGeom>
          <a:solidFill>
            <a:srgbClr val="E03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65008" y="4142231"/>
            <a:ext cx="1051560" cy="502920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ctr">
              <a:defRPr sz="1200" b="1">
                <a:solidFill>
                  <a:srgbClr val="F5F7FA"/>
                </a:solidFill>
                <a:latin typeface="Vazirmatn"/>
              </a:defRPr>
            </a:pPr>
            <a:r>
              <a:t>زندگی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5074920"/>
            <a:ext cx="3108960" cy="411480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ctr">
              <a:defRPr sz="1400" b="1">
                <a:solidFill>
                  <a:srgbClr val="B8C3D0"/>
                </a:solidFill>
                <a:latin typeface="Vazirmatn"/>
              </a:defRPr>
            </a:pPr>
            <a:r>
              <a:t>شناخت • ارتباط • تصمیم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3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70080" y="109728"/>
            <a:ext cx="118872" cy="6748272"/>
          </a:xfrm>
          <a:prstGeom prst="rect">
            <a:avLst/>
          </a:prstGeom>
          <a:solidFill>
            <a:srgbClr val="36B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446520"/>
            <a:ext cx="11247120" cy="256032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r">
              <a:defRPr sz="1000" b="0">
                <a:solidFill>
                  <a:srgbClr val="B8C3D0"/>
                </a:solidFill>
                <a:latin typeface="Vazirmatn"/>
              </a:defRPr>
            </a:pPr>
            <a:r>
              <a:t>جغرافیای ایران • دهم تجربی ۱                                      امیرمحمد چیره  | 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"/>
            <a:ext cx="10789920" cy="731520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r">
              <a:defRPr sz="3400" b="1">
                <a:solidFill>
                  <a:srgbClr val="F5F7FA"/>
                </a:solidFill>
                <a:latin typeface="Vazirmatn"/>
              </a:defRPr>
            </a:pPr>
            <a:r>
              <a:t>واژه‌شناسی جغرافیا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6629400" cy="4526280"/>
          </a:xfrm>
          <a:prstGeom prst="roundRect">
            <a:avLst/>
          </a:prstGeom>
          <a:solidFill>
            <a:srgbClr val="F9FAFC"/>
          </a:solidFill>
          <a:ln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6126480" cy="3977639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r">
              <a:defRPr sz="2200" b="0">
                <a:solidFill>
                  <a:srgbClr val="1F2733"/>
                </a:solidFill>
                <a:latin typeface="Vazirmatn"/>
              </a:defRPr>
            </a:pPr>
            <a:r>
              <a:t>•  واژه جغرافیا ریشه یونانی دارد.</a:t>
            </a:r>
          </a:p>
          <a:p>
            <a:pPr algn="r">
              <a:defRPr sz="2200" b="0">
                <a:solidFill>
                  <a:srgbClr val="1F2733"/>
                </a:solidFill>
                <a:latin typeface="Vazirmatn"/>
              </a:defRPr>
            </a:pPr>
            <a:r>
              <a:t>•  «ژئو» به معنی زمین است.</a:t>
            </a:r>
          </a:p>
          <a:p>
            <a:pPr algn="r">
              <a:defRPr sz="2200" b="0">
                <a:solidFill>
                  <a:srgbClr val="1F2733"/>
                </a:solidFill>
                <a:latin typeface="Vazirmatn"/>
              </a:defRPr>
            </a:pPr>
            <a:r>
              <a:t>•  «گرافی» به معنی نوشتن، ترسیم یا توصیف است.</a:t>
            </a:r>
          </a:p>
          <a:p>
            <a:pPr algn="r">
              <a:defRPr sz="2200" b="0">
                <a:solidFill>
                  <a:srgbClr val="1F2733"/>
                </a:solidFill>
                <a:latin typeface="Vazirmatn"/>
              </a:defRPr>
            </a:pPr>
            <a:r>
              <a:t>•  اراتوستن از دانشمندان یونانی، در تاریخ این واژه جایگاه مهمی دارد.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325880"/>
            <a:ext cx="3749039" cy="4526280"/>
          </a:xfrm>
          <a:prstGeom prst="roundRect">
            <a:avLst/>
          </a:prstGeom>
          <a:solidFill>
            <a:srgbClr val="1C222D"/>
          </a:solidFill>
          <a:ln>
            <a:solidFill>
              <a:srgbClr val="36B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2011680"/>
            <a:ext cx="3017520" cy="640080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ctr">
              <a:defRPr sz="3000" b="1">
                <a:solidFill>
                  <a:srgbClr val="36B980"/>
                </a:solidFill>
                <a:latin typeface="Vazirmatn"/>
              </a:defRPr>
            </a:pPr>
            <a:r>
              <a:t>GEO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926080"/>
            <a:ext cx="3017520" cy="640080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ctr">
              <a:defRPr sz="3000" b="1">
                <a:solidFill>
                  <a:srgbClr val="E03949"/>
                </a:solidFill>
                <a:latin typeface="Vazirmatn"/>
              </a:defRPr>
            </a:pPr>
            <a:r>
              <a:t>GRAPHY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4023360"/>
            <a:ext cx="3017520" cy="822960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ctr">
              <a:defRPr sz="1800" b="1">
                <a:solidFill>
                  <a:srgbClr val="F5F7FA"/>
                </a:solidFill>
                <a:latin typeface="Vazirmatn"/>
              </a:defRPr>
            </a:pPr>
            <a:r>
              <a:t>زمین + توصیف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5074920"/>
            <a:ext cx="3108960" cy="411480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ctr">
              <a:defRPr sz="1400" b="1">
                <a:solidFill>
                  <a:srgbClr val="B8C3D0"/>
                </a:solidFill>
                <a:latin typeface="Vazirmatn"/>
              </a:defRPr>
            </a:pPr>
            <a:r>
              <a:t>شناخت • ارتباط • تصمیم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3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70080" y="109728"/>
            <a:ext cx="118872" cy="6748272"/>
          </a:xfrm>
          <a:prstGeom prst="rect">
            <a:avLst/>
          </a:prstGeom>
          <a:solidFill>
            <a:srgbClr val="36B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446520"/>
            <a:ext cx="11247120" cy="256032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r">
              <a:defRPr sz="1000" b="0">
                <a:solidFill>
                  <a:srgbClr val="B8C3D0"/>
                </a:solidFill>
                <a:latin typeface="Vazirmatn"/>
              </a:defRPr>
            </a:pPr>
            <a:r>
              <a:t>جغرافیای ایران • دهم تجربی ۱                                      امیرمحمد چیره  | 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"/>
            <a:ext cx="10789920" cy="731520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r">
              <a:defRPr sz="3400" b="1">
                <a:solidFill>
                  <a:srgbClr val="F5F7FA"/>
                </a:solidFill>
                <a:latin typeface="Vazirmatn"/>
              </a:defRPr>
            </a:pPr>
            <a:r>
              <a:t>انسان و محیط؛ رابطه‌ای دوطرفه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6629400" cy="4526280"/>
          </a:xfrm>
          <a:prstGeom prst="roundRect">
            <a:avLst/>
          </a:prstGeom>
          <a:solidFill>
            <a:srgbClr val="F9FAFC"/>
          </a:solidFill>
          <a:ln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6126480" cy="3977639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r">
              <a:defRPr sz="2200" b="0">
                <a:solidFill>
                  <a:srgbClr val="1F2733"/>
                </a:solidFill>
                <a:latin typeface="Vazirmatn"/>
              </a:defRPr>
            </a:pPr>
            <a:r>
              <a:t>•  محیط طبیعی بر شیوه زندگی انسان اثر می‌گذارد.</a:t>
            </a:r>
          </a:p>
          <a:p>
            <a:pPr algn="r">
              <a:defRPr sz="2200" b="0">
                <a:solidFill>
                  <a:srgbClr val="1F2733"/>
                </a:solidFill>
                <a:latin typeface="Vazirmatn"/>
              </a:defRPr>
            </a:pPr>
            <a:r>
              <a:t>•  انسان نیز با فعالیت‌های خود محیط را تغییر می‌دهد.</a:t>
            </a:r>
          </a:p>
          <a:p>
            <a:pPr algn="r">
              <a:defRPr sz="2200" b="0">
                <a:solidFill>
                  <a:srgbClr val="1F2733"/>
                </a:solidFill>
                <a:latin typeface="Vazirmatn"/>
              </a:defRPr>
            </a:pPr>
            <a:r>
              <a:t>•  این رابطه می‌تواند سازنده یا آسیب‌زا باشد.</a:t>
            </a:r>
          </a:p>
          <a:p>
            <a:pPr algn="r">
              <a:defRPr sz="2200" b="0">
                <a:solidFill>
                  <a:srgbClr val="1F2733"/>
                </a:solidFill>
                <a:latin typeface="Vazirmatn"/>
              </a:defRPr>
            </a:pPr>
            <a:r>
              <a:t>•  نمونه: مدیریت درست آب در مناطق کم‌آب.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325880"/>
            <a:ext cx="3749039" cy="4526280"/>
          </a:xfrm>
          <a:prstGeom prst="roundRect">
            <a:avLst/>
          </a:prstGeom>
          <a:solidFill>
            <a:srgbClr val="1C222D"/>
          </a:solidFill>
          <a:ln>
            <a:solidFill>
              <a:srgbClr val="36B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549640" y="2423160"/>
            <a:ext cx="1005840" cy="640080"/>
          </a:xfrm>
          <a:prstGeom prst="line">
            <a:avLst/>
          </a:prstGeom>
          <a:ln w="25400">
            <a:solidFill>
              <a:srgbClr val="E039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8549640" y="3291840"/>
            <a:ext cx="1005840" cy="822960"/>
          </a:xfrm>
          <a:prstGeom prst="line">
            <a:avLst/>
          </a:prstGeom>
          <a:ln w="25400">
            <a:solidFill>
              <a:srgbClr val="E039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321040" y="2651760"/>
            <a:ext cx="0" cy="1325879"/>
          </a:xfrm>
          <a:prstGeom prst="line">
            <a:avLst/>
          </a:prstGeom>
          <a:ln w="25400">
            <a:solidFill>
              <a:srgbClr val="E039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8092440" y="2057400"/>
            <a:ext cx="914400" cy="914400"/>
          </a:xfrm>
          <a:prstGeom prst="ellipse">
            <a:avLst/>
          </a:prstGeom>
          <a:solidFill>
            <a:srgbClr val="E03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19288" y="2221992"/>
            <a:ext cx="1051560" cy="502920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ctr">
              <a:defRPr sz="1200" b="1">
                <a:solidFill>
                  <a:srgbClr val="F5F7FA"/>
                </a:solidFill>
                <a:latin typeface="Vazirmatn"/>
              </a:defRPr>
            </a:pPr>
            <a:r>
              <a:t>انسان</a:t>
            </a:r>
          </a:p>
        </p:txBody>
      </p:sp>
      <p:sp>
        <p:nvSpPr>
          <p:cNvPr id="14" name="Oval 13"/>
          <p:cNvSpPr/>
          <p:nvPr/>
        </p:nvSpPr>
        <p:spPr>
          <a:xfrm>
            <a:off x="9464040" y="2834640"/>
            <a:ext cx="914400" cy="914400"/>
          </a:xfrm>
          <a:prstGeom prst="ellipse">
            <a:avLst/>
          </a:prstGeom>
          <a:solidFill>
            <a:srgbClr val="36B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90888" y="2999232"/>
            <a:ext cx="1051560" cy="502920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ctr">
              <a:defRPr sz="1200" b="1">
                <a:solidFill>
                  <a:srgbClr val="F5F7FA"/>
                </a:solidFill>
                <a:latin typeface="Vazirmatn"/>
              </a:defRPr>
            </a:pPr>
            <a:r>
              <a:t>محیط</a:t>
            </a:r>
          </a:p>
        </p:txBody>
      </p:sp>
      <p:sp>
        <p:nvSpPr>
          <p:cNvPr id="16" name="Oval 15"/>
          <p:cNvSpPr/>
          <p:nvPr/>
        </p:nvSpPr>
        <p:spPr>
          <a:xfrm>
            <a:off x="8138160" y="3977639"/>
            <a:ext cx="914400" cy="914400"/>
          </a:xfrm>
          <a:prstGeom prst="ellipse">
            <a:avLst/>
          </a:prstGeom>
          <a:solidFill>
            <a:srgbClr val="E03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65008" y="4142231"/>
            <a:ext cx="1051560" cy="502920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ctr">
              <a:defRPr sz="1200" b="1">
                <a:solidFill>
                  <a:srgbClr val="F5F7FA"/>
                </a:solidFill>
                <a:latin typeface="Vazirmatn"/>
              </a:defRPr>
            </a:pPr>
            <a:r>
              <a:t>زندگی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5074920"/>
            <a:ext cx="3108960" cy="411480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ctr">
              <a:defRPr sz="1400" b="1">
                <a:solidFill>
                  <a:srgbClr val="B8C3D0"/>
                </a:solidFill>
                <a:latin typeface="Vazirmatn"/>
              </a:defRPr>
            </a:pPr>
            <a:r>
              <a:t>شناخت • ارتباط • تصمیم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3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70080" y="109728"/>
            <a:ext cx="118872" cy="6748272"/>
          </a:xfrm>
          <a:prstGeom prst="rect">
            <a:avLst/>
          </a:prstGeom>
          <a:solidFill>
            <a:srgbClr val="36B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446520"/>
            <a:ext cx="11247120" cy="256032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r">
              <a:defRPr sz="1000" b="0">
                <a:solidFill>
                  <a:srgbClr val="B8C3D0"/>
                </a:solidFill>
                <a:latin typeface="Vazirmatn"/>
              </a:defRPr>
            </a:pPr>
            <a:r>
              <a:t>جغرافیای ایران • دهم تجربی ۱                                      امیرمحمد چیره  | 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"/>
            <a:ext cx="10789920" cy="731520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r">
              <a:defRPr sz="3400" b="1">
                <a:solidFill>
                  <a:srgbClr val="F5F7FA"/>
                </a:solidFill>
                <a:latin typeface="Vazirmatn"/>
              </a:defRPr>
            </a:pPr>
            <a:r>
              <a:t>مفهوم مکان در جغرافیا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6629400" cy="4526280"/>
          </a:xfrm>
          <a:prstGeom prst="roundRect">
            <a:avLst/>
          </a:prstGeom>
          <a:solidFill>
            <a:srgbClr val="F9FAFC"/>
          </a:solidFill>
          <a:ln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6126480" cy="3977639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r">
              <a:defRPr sz="2200" b="0">
                <a:solidFill>
                  <a:srgbClr val="1F2733"/>
                </a:solidFill>
                <a:latin typeface="Vazirmatn"/>
              </a:defRPr>
            </a:pPr>
            <a:r>
              <a:t>•  هر مکان ویژگی‌های طبیعی و انسانی ویژه‌ای دارد.</a:t>
            </a:r>
          </a:p>
          <a:p>
            <a:pPr algn="r">
              <a:defRPr sz="2200" b="0">
                <a:solidFill>
                  <a:srgbClr val="1F2733"/>
                </a:solidFill>
                <a:latin typeface="Vazirmatn"/>
              </a:defRPr>
            </a:pPr>
            <a:r>
              <a:t>•  آب‌وهوا، ناهمواری و منابع آب از عوامل طبیعی‌اند.</a:t>
            </a:r>
          </a:p>
          <a:p>
            <a:pPr algn="r">
              <a:defRPr sz="2200" b="0">
                <a:solidFill>
                  <a:srgbClr val="1F2733"/>
                </a:solidFill>
                <a:latin typeface="Vazirmatn"/>
              </a:defRPr>
            </a:pPr>
            <a:r>
              <a:t>•  جمعیت، راه‌ها و فعالیت‌های اقتصادی از عوامل انسانی‌اند.</a:t>
            </a:r>
          </a:p>
          <a:p>
            <a:pPr algn="r">
              <a:defRPr sz="2200" b="0">
                <a:solidFill>
                  <a:srgbClr val="1F2733"/>
                </a:solidFill>
                <a:latin typeface="Vazirmatn"/>
              </a:defRPr>
            </a:pPr>
            <a:r>
              <a:t>•  شناخت مکان به برنامه‌ریزی دقیق‌تر کمک می‌کند.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325880"/>
            <a:ext cx="3749039" cy="4526280"/>
          </a:xfrm>
          <a:prstGeom prst="roundRect">
            <a:avLst/>
          </a:prstGeom>
          <a:solidFill>
            <a:srgbClr val="1C222D"/>
          </a:solidFill>
          <a:ln>
            <a:solidFill>
              <a:srgbClr val="36B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58200" y="2011680"/>
            <a:ext cx="2103120" cy="2103120"/>
          </a:xfrm>
          <a:prstGeom prst="ellipse">
            <a:avLst/>
          </a:prstGeom>
          <a:solidFill>
            <a:srgbClr val="234B5B"/>
          </a:solidFill>
          <a:ln w="38100">
            <a:solidFill>
              <a:srgbClr val="36B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8641080" y="2423160"/>
            <a:ext cx="1737360" cy="0"/>
          </a:xfrm>
          <a:prstGeom prst="line">
            <a:avLst/>
          </a:prstGeom>
          <a:ln w="16510">
            <a:solidFill>
              <a:srgbClr val="E039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641080" y="2770632"/>
            <a:ext cx="1737360" cy="0"/>
          </a:xfrm>
          <a:prstGeom prst="line">
            <a:avLst/>
          </a:prstGeom>
          <a:ln w="16510">
            <a:solidFill>
              <a:srgbClr val="E039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641080" y="3118104"/>
            <a:ext cx="1737360" cy="0"/>
          </a:xfrm>
          <a:prstGeom prst="line">
            <a:avLst/>
          </a:prstGeom>
          <a:ln w="16510">
            <a:solidFill>
              <a:srgbClr val="E039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641080" y="3465576"/>
            <a:ext cx="1737360" cy="0"/>
          </a:xfrm>
          <a:prstGeom prst="line">
            <a:avLst/>
          </a:prstGeom>
          <a:ln w="16510">
            <a:solidFill>
              <a:srgbClr val="E039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909560" y="5074920"/>
            <a:ext cx="3108960" cy="411480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ctr">
              <a:defRPr sz="1400" b="1">
                <a:solidFill>
                  <a:srgbClr val="B8C3D0"/>
                </a:solidFill>
                <a:latin typeface="Vazirmatn"/>
              </a:defRPr>
            </a:pPr>
            <a:r>
              <a:t>شناخت • ارتباط • تصمیم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3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70080" y="109728"/>
            <a:ext cx="118872" cy="6748272"/>
          </a:xfrm>
          <a:prstGeom prst="rect">
            <a:avLst/>
          </a:prstGeom>
          <a:solidFill>
            <a:srgbClr val="36B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446520"/>
            <a:ext cx="11247120" cy="256032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r">
              <a:defRPr sz="1000" b="0">
                <a:solidFill>
                  <a:srgbClr val="B8C3D0"/>
                </a:solidFill>
                <a:latin typeface="Vazirmatn"/>
              </a:defRPr>
            </a:pPr>
            <a:r>
              <a:t>جغرافیای ایران • دهم تجربی ۱                                      امیرمحمد چیره  | 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"/>
            <a:ext cx="10789920" cy="731520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r">
              <a:defRPr sz="3400" b="1">
                <a:solidFill>
                  <a:srgbClr val="F5F7FA"/>
                </a:solidFill>
                <a:latin typeface="Vazirmatn"/>
              </a:defRPr>
            </a:pPr>
            <a:r>
              <a:t>دید ترکیبی یا کل‌نگری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6629400" cy="4526280"/>
          </a:xfrm>
          <a:prstGeom prst="roundRect">
            <a:avLst/>
          </a:prstGeom>
          <a:solidFill>
            <a:srgbClr val="F9FAFC"/>
          </a:solidFill>
          <a:ln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6126480" cy="3977639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r">
              <a:defRPr sz="2200" b="0">
                <a:solidFill>
                  <a:srgbClr val="1F2733"/>
                </a:solidFill>
                <a:latin typeface="Vazirmatn"/>
              </a:defRPr>
            </a:pPr>
            <a:r>
              <a:t>•  پدیده‌های جغرافیایی را نباید جدا از هم بررسی کرد.</a:t>
            </a:r>
          </a:p>
          <a:p>
            <a:pPr algn="r">
              <a:defRPr sz="2200" b="0">
                <a:solidFill>
                  <a:srgbClr val="1F2733"/>
                </a:solidFill>
                <a:latin typeface="Vazirmatn"/>
              </a:defRPr>
            </a:pPr>
            <a:r>
              <a:t>•  برای شناخت یک مسئله، چند عامل را کنار هم می‌سنجیم.</a:t>
            </a:r>
          </a:p>
          <a:p>
            <a:pPr algn="r">
              <a:defRPr sz="2200" b="0">
                <a:solidFill>
                  <a:srgbClr val="1F2733"/>
                </a:solidFill>
                <a:latin typeface="Vazirmatn"/>
              </a:defRPr>
            </a:pPr>
            <a:r>
              <a:t>•  مثال: بررسی کم‌آبی با توجه به بارش، مصرف، جمعیت و کشاورزی.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325880"/>
            <a:ext cx="3749039" cy="4526280"/>
          </a:xfrm>
          <a:prstGeom prst="roundRect">
            <a:avLst/>
          </a:prstGeom>
          <a:solidFill>
            <a:srgbClr val="1C222D"/>
          </a:solidFill>
          <a:ln>
            <a:solidFill>
              <a:srgbClr val="36B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549640" y="2423160"/>
            <a:ext cx="1005840" cy="640080"/>
          </a:xfrm>
          <a:prstGeom prst="line">
            <a:avLst/>
          </a:prstGeom>
          <a:ln w="25400">
            <a:solidFill>
              <a:srgbClr val="E039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8549640" y="3291840"/>
            <a:ext cx="1005840" cy="822960"/>
          </a:xfrm>
          <a:prstGeom prst="line">
            <a:avLst/>
          </a:prstGeom>
          <a:ln w="25400">
            <a:solidFill>
              <a:srgbClr val="E039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321040" y="2651760"/>
            <a:ext cx="0" cy="1325879"/>
          </a:xfrm>
          <a:prstGeom prst="line">
            <a:avLst/>
          </a:prstGeom>
          <a:ln w="25400">
            <a:solidFill>
              <a:srgbClr val="E039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8092440" y="2057400"/>
            <a:ext cx="914400" cy="914400"/>
          </a:xfrm>
          <a:prstGeom prst="ellipse">
            <a:avLst/>
          </a:prstGeom>
          <a:solidFill>
            <a:srgbClr val="E03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19288" y="2221992"/>
            <a:ext cx="1051560" cy="502920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ctr">
              <a:defRPr sz="1200" b="1">
                <a:solidFill>
                  <a:srgbClr val="F5F7FA"/>
                </a:solidFill>
                <a:latin typeface="Vazirmatn"/>
              </a:defRPr>
            </a:pPr>
            <a:r>
              <a:t>انسان</a:t>
            </a:r>
          </a:p>
        </p:txBody>
      </p:sp>
      <p:sp>
        <p:nvSpPr>
          <p:cNvPr id="14" name="Oval 13"/>
          <p:cNvSpPr/>
          <p:nvPr/>
        </p:nvSpPr>
        <p:spPr>
          <a:xfrm>
            <a:off x="9464040" y="2834640"/>
            <a:ext cx="914400" cy="914400"/>
          </a:xfrm>
          <a:prstGeom prst="ellipse">
            <a:avLst/>
          </a:prstGeom>
          <a:solidFill>
            <a:srgbClr val="36B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90888" y="2999232"/>
            <a:ext cx="1051560" cy="502920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ctr">
              <a:defRPr sz="1200" b="1">
                <a:solidFill>
                  <a:srgbClr val="F5F7FA"/>
                </a:solidFill>
                <a:latin typeface="Vazirmatn"/>
              </a:defRPr>
            </a:pPr>
            <a:r>
              <a:t>محیط</a:t>
            </a:r>
          </a:p>
        </p:txBody>
      </p:sp>
      <p:sp>
        <p:nvSpPr>
          <p:cNvPr id="16" name="Oval 15"/>
          <p:cNvSpPr/>
          <p:nvPr/>
        </p:nvSpPr>
        <p:spPr>
          <a:xfrm>
            <a:off x="8138160" y="3977639"/>
            <a:ext cx="914400" cy="914400"/>
          </a:xfrm>
          <a:prstGeom prst="ellipse">
            <a:avLst/>
          </a:prstGeom>
          <a:solidFill>
            <a:srgbClr val="E03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65008" y="4142231"/>
            <a:ext cx="1051560" cy="502920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ctr">
              <a:defRPr sz="1200" b="1">
                <a:solidFill>
                  <a:srgbClr val="F5F7FA"/>
                </a:solidFill>
                <a:latin typeface="Vazirmatn"/>
              </a:defRPr>
            </a:pPr>
            <a:r>
              <a:t>زندگی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5074920"/>
            <a:ext cx="3108960" cy="411480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ctr">
              <a:defRPr sz="1400" b="1">
                <a:solidFill>
                  <a:srgbClr val="B8C3D0"/>
                </a:solidFill>
                <a:latin typeface="Vazirmatn"/>
              </a:defRPr>
            </a:pPr>
            <a:r>
              <a:t>شناخت • ارتباط • تصمیم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3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70080" y="109728"/>
            <a:ext cx="118872" cy="6748272"/>
          </a:xfrm>
          <a:prstGeom prst="rect">
            <a:avLst/>
          </a:prstGeom>
          <a:solidFill>
            <a:srgbClr val="36B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446520"/>
            <a:ext cx="11247120" cy="256032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r">
              <a:defRPr sz="1000" b="0">
                <a:solidFill>
                  <a:srgbClr val="B8C3D0"/>
                </a:solidFill>
                <a:latin typeface="Vazirmatn"/>
              </a:defRPr>
            </a:pPr>
            <a:r>
              <a:t>جغرافیای ایران • دهم تجربی ۱                                      امیرمحمد چیره  | 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"/>
            <a:ext cx="10789920" cy="731520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r">
              <a:defRPr sz="3400" b="1">
                <a:solidFill>
                  <a:srgbClr val="F5F7FA"/>
                </a:solidFill>
                <a:latin typeface="Vazirmatn"/>
              </a:defRPr>
            </a:pPr>
            <a:r>
              <a:t>جغرافیا در زندگی روزمره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6629400" cy="4526280"/>
          </a:xfrm>
          <a:prstGeom prst="roundRect">
            <a:avLst/>
          </a:prstGeom>
          <a:solidFill>
            <a:srgbClr val="F9FAFC"/>
          </a:solidFill>
          <a:ln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6126480" cy="3977639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r">
              <a:defRPr sz="2200" b="0">
                <a:solidFill>
                  <a:srgbClr val="1F2733"/>
                </a:solidFill>
                <a:latin typeface="Vazirmatn"/>
              </a:defRPr>
            </a:pPr>
            <a:r>
              <a:t>•  انتخاب محل مناسب برای ساخت‌وساز</a:t>
            </a:r>
          </a:p>
          <a:p>
            <a:pPr algn="r">
              <a:defRPr sz="2200" b="0">
                <a:solidFill>
                  <a:srgbClr val="1F2733"/>
                </a:solidFill>
                <a:latin typeface="Vazirmatn"/>
              </a:defRPr>
            </a:pPr>
            <a:r>
              <a:t>•  برنامه‌ریزی مسیرها و حمل‌ونقل</a:t>
            </a:r>
          </a:p>
          <a:p>
            <a:pPr algn="r">
              <a:defRPr sz="2200" b="0">
                <a:solidFill>
                  <a:srgbClr val="1F2733"/>
                </a:solidFill>
                <a:latin typeface="Vazirmatn"/>
              </a:defRPr>
            </a:pPr>
            <a:r>
              <a:t>•  آمادگی در برابر سیل، زلزله و خشکسالی</a:t>
            </a:r>
          </a:p>
          <a:p>
            <a:pPr algn="r">
              <a:defRPr sz="2200" b="0">
                <a:solidFill>
                  <a:srgbClr val="1F2733"/>
                </a:solidFill>
                <a:latin typeface="Vazirmatn"/>
              </a:defRPr>
            </a:pPr>
            <a:r>
              <a:t>•  مدیریت منابع و حفاظت از محیط‌زیست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325880"/>
            <a:ext cx="3749039" cy="4526280"/>
          </a:xfrm>
          <a:prstGeom prst="roundRect">
            <a:avLst/>
          </a:prstGeom>
          <a:solidFill>
            <a:srgbClr val="1C222D"/>
          </a:solidFill>
          <a:ln>
            <a:solidFill>
              <a:srgbClr val="36B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58200" y="2011680"/>
            <a:ext cx="2103120" cy="2103120"/>
          </a:xfrm>
          <a:prstGeom prst="ellipse">
            <a:avLst/>
          </a:prstGeom>
          <a:solidFill>
            <a:srgbClr val="234B5B"/>
          </a:solidFill>
          <a:ln w="38100">
            <a:solidFill>
              <a:srgbClr val="36B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8641080" y="2423160"/>
            <a:ext cx="1737360" cy="0"/>
          </a:xfrm>
          <a:prstGeom prst="line">
            <a:avLst/>
          </a:prstGeom>
          <a:ln w="16510">
            <a:solidFill>
              <a:srgbClr val="E039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641080" y="2770632"/>
            <a:ext cx="1737360" cy="0"/>
          </a:xfrm>
          <a:prstGeom prst="line">
            <a:avLst/>
          </a:prstGeom>
          <a:ln w="16510">
            <a:solidFill>
              <a:srgbClr val="E039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641080" y="3118104"/>
            <a:ext cx="1737360" cy="0"/>
          </a:xfrm>
          <a:prstGeom prst="line">
            <a:avLst/>
          </a:prstGeom>
          <a:ln w="16510">
            <a:solidFill>
              <a:srgbClr val="E039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641080" y="3465576"/>
            <a:ext cx="1737360" cy="0"/>
          </a:xfrm>
          <a:prstGeom prst="line">
            <a:avLst/>
          </a:prstGeom>
          <a:ln w="16510">
            <a:solidFill>
              <a:srgbClr val="E039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909560" y="5074920"/>
            <a:ext cx="3108960" cy="411480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ctr">
              <a:defRPr sz="1400" b="1">
                <a:solidFill>
                  <a:srgbClr val="B8C3D0"/>
                </a:solidFill>
                <a:latin typeface="Vazirmatn"/>
              </a:defRPr>
            </a:pPr>
            <a:r>
              <a:t>شناخت • ارتباط • تصمیم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3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70080" y="109728"/>
            <a:ext cx="118872" cy="6748272"/>
          </a:xfrm>
          <a:prstGeom prst="rect">
            <a:avLst/>
          </a:prstGeom>
          <a:solidFill>
            <a:srgbClr val="36B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446520"/>
            <a:ext cx="11247120" cy="256032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r">
              <a:defRPr sz="1000" b="0">
                <a:solidFill>
                  <a:srgbClr val="B8C3D0"/>
                </a:solidFill>
                <a:latin typeface="Vazirmatn"/>
              </a:defRPr>
            </a:pPr>
            <a:r>
              <a:t>جغرافیای ایران • دهم تجربی ۱                                      امیرمحمد چیره  | 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"/>
            <a:ext cx="10789920" cy="731520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r">
              <a:defRPr sz="3400" b="1">
                <a:solidFill>
                  <a:srgbClr val="F5F7FA"/>
                </a:solidFill>
                <a:latin typeface="Vazirmatn"/>
              </a:defRPr>
            </a:pPr>
            <a:r>
              <a:t>تمرین کوتاه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6629400" cy="4526280"/>
          </a:xfrm>
          <a:prstGeom prst="roundRect">
            <a:avLst/>
          </a:prstGeom>
          <a:solidFill>
            <a:srgbClr val="F9FAFC"/>
          </a:solidFill>
          <a:ln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6126480" cy="3977639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r">
              <a:defRPr sz="2200" b="0">
                <a:solidFill>
                  <a:srgbClr val="1F2733"/>
                </a:solidFill>
                <a:latin typeface="Vazirmatn"/>
              </a:defRPr>
            </a:pPr>
            <a:r>
              <a:t>•  پرسش ۱: جغرافیا چه چیزی را بررسی می‌کند؟</a:t>
            </a:r>
          </a:p>
          <a:p>
            <a:pPr algn="r">
              <a:defRPr sz="2200" b="0">
                <a:solidFill>
                  <a:srgbClr val="1F2733"/>
                </a:solidFill>
                <a:latin typeface="Vazirmatn"/>
              </a:defRPr>
            </a:pPr>
            <a:r>
              <a:t>•  پرسش ۲: یک نمونه از تأثیر انسان بر محیط بگویید.</a:t>
            </a:r>
          </a:p>
          <a:p>
            <a:pPr algn="r">
              <a:defRPr sz="2200" b="0">
                <a:solidFill>
                  <a:srgbClr val="1F2733"/>
                </a:solidFill>
                <a:latin typeface="Vazirmatn"/>
              </a:defRPr>
            </a:pPr>
            <a:r>
              <a:t>•  پرسش ۳: چرا برای بررسی کم‌آبی باید چند عامل را با هم دید؟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325880"/>
            <a:ext cx="3749039" cy="4526280"/>
          </a:xfrm>
          <a:prstGeom prst="roundRect">
            <a:avLst/>
          </a:prstGeom>
          <a:solidFill>
            <a:srgbClr val="1C222D"/>
          </a:solidFill>
          <a:ln>
            <a:solidFill>
              <a:srgbClr val="36B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0" y="2651760"/>
            <a:ext cx="594360" cy="594360"/>
          </a:xfrm>
          <a:prstGeom prst="ellipse">
            <a:avLst/>
          </a:prstGeom>
          <a:solidFill>
            <a:srgbClr val="E0394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2761488"/>
            <a:ext cx="621792" cy="365760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ctr">
              <a:defRPr sz="1800" b="1">
                <a:solidFill>
                  <a:srgbClr val="F5F7FA"/>
                </a:solidFill>
                <a:latin typeface="Vazirmatn"/>
              </a:defRPr>
            </a:pPr>
            <a: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9006840" y="2651760"/>
            <a:ext cx="594360" cy="594360"/>
          </a:xfrm>
          <a:prstGeom prst="ellipse">
            <a:avLst/>
          </a:prstGeom>
          <a:solidFill>
            <a:srgbClr val="36B9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88552" y="2761488"/>
            <a:ext cx="621792" cy="365760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ctr">
              <a:defRPr sz="1800" b="1">
                <a:solidFill>
                  <a:srgbClr val="F5F7FA"/>
                </a:solidFill>
                <a:latin typeface="Vazirmatn"/>
              </a:defRPr>
            </a:pPr>
            <a: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9784080" y="2651760"/>
            <a:ext cx="594360" cy="594360"/>
          </a:xfrm>
          <a:prstGeom prst="ellipse">
            <a:avLst/>
          </a:prstGeom>
          <a:solidFill>
            <a:srgbClr val="36B9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65792" y="2761488"/>
            <a:ext cx="621792" cy="365760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ctr">
              <a:defRPr sz="1800" b="1">
                <a:solidFill>
                  <a:srgbClr val="F5F7FA"/>
                </a:solidFill>
                <a:latin typeface="Vazirmatn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3657600"/>
            <a:ext cx="3017520" cy="822960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ctr">
              <a:defRPr sz="1900" b="1">
                <a:solidFill>
                  <a:srgbClr val="F5F7FA"/>
                </a:solidFill>
                <a:latin typeface="Vazirmatn"/>
              </a:defRPr>
            </a:pPr>
            <a:r>
              <a:t>فکر کن، پاسخ بده!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5074920"/>
            <a:ext cx="3108960" cy="411480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ctr">
              <a:defRPr sz="1400" b="1">
                <a:solidFill>
                  <a:srgbClr val="B8C3D0"/>
                </a:solidFill>
                <a:latin typeface="Vazirmatn"/>
              </a:defRPr>
            </a:pPr>
            <a:r>
              <a:t>شناخت • ارتباط • تصمیم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6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3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70080" y="109728"/>
            <a:ext cx="118872" cy="6748272"/>
          </a:xfrm>
          <a:prstGeom prst="rect">
            <a:avLst/>
          </a:prstGeom>
          <a:solidFill>
            <a:srgbClr val="36B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446520"/>
            <a:ext cx="11247120" cy="256032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r">
              <a:defRPr sz="1000" b="0">
                <a:solidFill>
                  <a:srgbClr val="B8C3D0"/>
                </a:solidFill>
                <a:latin typeface="Vazirmatn"/>
              </a:defRPr>
            </a:pPr>
            <a:r>
              <a:t>جغرافیای ایران • دهم تجربی ۱                                      امیرمحمد چیره  |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"/>
            <a:ext cx="10789920" cy="731520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r">
              <a:defRPr sz="3400" b="1">
                <a:solidFill>
                  <a:srgbClr val="F5F7FA"/>
                </a:solidFill>
                <a:latin typeface="Vazirmatn"/>
              </a:defRPr>
            </a:pPr>
            <a:r>
              <a:t>جمع‌بندی و سپاس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6629400" cy="4526280"/>
          </a:xfrm>
          <a:prstGeom prst="roundRect">
            <a:avLst/>
          </a:prstGeom>
          <a:solidFill>
            <a:srgbClr val="F9FAFC"/>
          </a:solidFill>
          <a:ln>
            <a:solidFill>
              <a:srgbClr val="DF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6126480" cy="3977639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r">
              <a:defRPr sz="2200" b="0">
                <a:solidFill>
                  <a:srgbClr val="1F2733"/>
                </a:solidFill>
                <a:latin typeface="Vazirmatn"/>
              </a:defRPr>
            </a:pPr>
            <a:r>
              <a:t>•  جغرافیا رابطه انسان و محیط را بررسی می‌کند.</a:t>
            </a:r>
          </a:p>
          <a:p>
            <a:pPr algn="r">
              <a:defRPr sz="2200" b="0">
                <a:solidFill>
                  <a:srgbClr val="1F2733"/>
                </a:solidFill>
                <a:latin typeface="Vazirmatn"/>
              </a:defRPr>
            </a:pPr>
            <a:r>
              <a:t>•  شناخت مکان‌ها و ارتباط پدیده‌ها به تصمیم‌گیری بهتر کمک می‌کند.</a:t>
            </a:r>
          </a:p>
          <a:p>
            <a:pPr algn="r">
              <a:defRPr sz="2200" b="0">
                <a:solidFill>
                  <a:srgbClr val="1F2733"/>
                </a:solidFill>
                <a:latin typeface="Vazirmatn"/>
              </a:defRPr>
            </a:pPr>
            <a:r>
              <a:t>•  با دید ترکیبی می‌توان برای مسائل واقعی راه‌حل‌های مناسب‌تری یافت.</a:t>
            </a:r>
          </a:p>
          <a:p>
            <a:pPr algn="r">
              <a:defRPr sz="2200" b="0">
                <a:solidFill>
                  <a:srgbClr val="1F2733"/>
                </a:solidFill>
                <a:latin typeface="Vazirmatn"/>
              </a:defRPr>
            </a:pPr>
            <a:r>
              <a:t>•  از توجه شما سپاسگزارم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325880"/>
            <a:ext cx="3749039" cy="4526280"/>
          </a:xfrm>
          <a:prstGeom prst="roundRect">
            <a:avLst/>
          </a:prstGeom>
          <a:solidFill>
            <a:srgbClr val="1C222D"/>
          </a:solidFill>
          <a:ln>
            <a:solidFill>
              <a:srgbClr val="36B9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194560"/>
            <a:ext cx="3017520" cy="2194560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ctr">
              <a:defRPr sz="2200" b="1">
                <a:solidFill>
                  <a:srgbClr val="F5F7FA"/>
                </a:solidFill>
                <a:latin typeface="Vazirmatn"/>
              </a:defRPr>
            </a:pPr>
            <a:r>
              <a:t>🌍</a:t>
            </a:r>
          </a:p>
          <a:p>
            <a:pPr algn="ctr">
              <a:defRPr sz="2200" b="1">
                <a:solidFill>
                  <a:srgbClr val="F5F7FA"/>
                </a:solidFill>
                <a:latin typeface="Vazirmatn"/>
              </a:defRPr>
            </a:pPr>
            <a:r>
              <a:t>جغرافیا</a:t>
            </a:r>
          </a:p>
          <a:p>
            <a:pPr algn="ctr">
              <a:defRPr sz="2200" b="1">
                <a:solidFill>
                  <a:srgbClr val="F5F7FA"/>
                </a:solidFill>
                <a:latin typeface="Vazirmatn"/>
              </a:defRPr>
            </a:pPr>
            <a:r>
              <a:t>برای زندگی بهتر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5074920"/>
            <a:ext cx="3108960" cy="411480"/>
          </a:xfrm>
          <a:prstGeom prst="rect">
            <a:avLst/>
          </a:prstGeom>
          <a:noFill/>
        </p:spPr>
        <p:txBody>
          <a:bodyPr wrap="square" lIns="73152" rIns="73152" tIns="36576" bIns="18288" anchor="ctr">
            <a:spAutoFit/>
          </a:bodyPr>
          <a:lstStyle/>
          <a:p>
            <a:pPr algn="ctr">
              <a:defRPr sz="1400" b="1">
                <a:solidFill>
                  <a:srgbClr val="B8C3D0"/>
                </a:solidFill>
                <a:latin typeface="Vazirmatn"/>
              </a:defRPr>
            </a:pPr>
            <a:r>
              <a:t>شناخت • ارتباط • تصمیم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